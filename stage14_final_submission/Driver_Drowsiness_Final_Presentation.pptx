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Good morning committee. We present our research prototype for an AI-Based Driver Drowsiness and Safety Monitoring System using a spatio-temporal MobileNetV2-LSTM architecture with closed-loop intervention.</a:t>
            </a:r>
          </a:p>
          <a:p/>
          <a:p>
            <a:r>
              <a:t>KEY POINT:</a:t>
            </a:r>
          </a:p>
          <a:p>
            <a:r>
              <a:t>End-to-end real-time driver drowsiness monitoring prototype.</a:t>
            </a:r>
          </a:p>
          <a:p/>
          <a:p>
            <a:r>
              <a:t>POTENTIAL EXAMINER QUESTION:</a:t>
            </a:r>
          </a:p>
          <a:p>
            <a:r>
              <a:t>What problem does your system solve that existing commercial systems do not?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Commercial drivers habituate to simple acoustic alarms. Detection alone is insufficient for safety-critical scenarios; our system adds intervention and recovery verification.</a:t>
            </a:r>
          </a:p>
          <a:p/>
          <a:p>
            <a:r>
              <a:t>KEY POINT:</a:t>
            </a:r>
          </a:p>
          <a:p>
            <a:r>
              <a:t>Closed-loop workflow ensures driver wakefulness before resuming monitoring.</a:t>
            </a:r>
          </a:p>
          <a:p/>
          <a:p>
            <a:r>
              <a:t>POTENTIAL EXAMINER QUESTION:</a:t>
            </a:r>
          </a:p>
          <a:p>
            <a:r>
              <a:t>Why is open-loop detection insufficient?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Our objectives span temporal modeling, real-time edge performance, active safety intervention, recovery verification, and transparent reporting of cross-domain limitations.</a:t>
            </a:r>
          </a:p>
          <a:p/>
          <a:p>
            <a:r>
              <a:t>KEY POINT:</a:t>
            </a:r>
          </a:p>
          <a:p>
            <a:r>
              <a:t>Comprehensive approach linking machine learning to real-world safety workflow.</a:t>
            </a:r>
          </a:p>
          <a:p/>
          <a:p>
            <a:r>
              <a:t>POTENTIAL EXAMINER QUESTION:</a:t>
            </a:r>
          </a:p>
          <a:p>
            <a:r>
              <a:t>How do you define temporal behavior?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We used NITYMED as a drowsiness recall benchmark and UTA-RLDD for multi-participant evaluation under a custom participant-level Fold-1 split.</a:t>
            </a:r>
          </a:p>
          <a:p/>
          <a:p>
            <a:r>
              <a:t>KEY POINT:</a:t>
            </a:r>
          </a:p>
          <a:p>
            <a:r>
              <a:t>Clear methodological distinction between NITYMED recall data and UTA-RLDD evaluation.</a:t>
            </a:r>
          </a:p>
          <a:p/>
          <a:p>
            <a:r>
              <a:t>POTENTIAL EXAMINER QUESTION:</a:t>
            </a:r>
          </a:p>
          <a:p>
            <a:r>
              <a:t>Is your UTA-RLDD evaluation the official five-fold benchmark?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Video is sampled at stride 3, localized to face crops, resized to 128x128, and normalized to [-1, 1] across 16 temporal frames.</a:t>
            </a:r>
          </a:p>
          <a:p/>
          <a:p>
            <a:r>
              <a:t>KEY POINT:</a:t>
            </a:r>
          </a:p>
          <a:p>
            <a:r>
              <a:t>Lightweight preprocessing pipeline optimized for edge inference.</a:t>
            </a:r>
          </a:p>
          <a:p/>
          <a:p>
            <a:r>
              <a:t>POTENTIAL EXAMINER QUESTION:</a:t>
            </a:r>
          </a:p>
          <a:p>
            <a:r>
              <a:t>Why 16 frames at stride 3?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Spatial features are extracted frame-by-frame by a frozen MobileNetV2 backbone and modeled sequentially by a 64-unit LSTM network.</a:t>
            </a:r>
          </a:p>
          <a:p/>
          <a:p>
            <a:r>
              <a:t>KEY POINT:</a:t>
            </a:r>
          </a:p>
          <a:p>
            <a:r>
              <a:t>Hybrid spatio-temporal deep neural network.</a:t>
            </a:r>
          </a:p>
          <a:p/>
          <a:p>
            <a:r>
              <a:t>POTENTIAL EXAMINER QUESTION:</a:t>
            </a:r>
          </a:p>
          <a:p>
            <a:r>
              <a:t>Why frozen MobileNetV2 instead of fine-tuning?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The end-to-end system receives camera input, maintains a 16-frame rolling buffer, computes smoothed probabilities, and manages state transitions.</a:t>
            </a:r>
          </a:p>
          <a:p/>
          <a:p>
            <a:r>
              <a:t>KEY POINT:</a:t>
            </a:r>
          </a:p>
          <a:p>
            <a:r>
              <a:t>Real-time modular architecture.</a:t>
            </a:r>
          </a:p>
          <a:p/>
          <a:p>
            <a:r>
              <a:t>POTENTIAL EXAMINER QUESTION:</a:t>
            </a:r>
          </a:p>
          <a:p>
            <a:r>
              <a:t>Why apply temporal probability smoothing?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Our novelty transitions the system from passive classification to active intervention and verification, requiring driver wakefulness confirmation before resuming.</a:t>
            </a:r>
          </a:p>
          <a:p/>
          <a:p>
            <a:r>
              <a:t>KEY POINT:</a:t>
            </a:r>
          </a:p>
          <a:p>
            <a:r>
              <a:t>Closed-loop workflow is the core project contribution.</a:t>
            </a:r>
          </a:p>
          <a:p/>
          <a:p>
            <a:r>
              <a:t>POTENTIAL EXAMINER QUESTION:</a:t>
            </a:r>
          </a:p>
          <a:p>
            <a:r>
              <a:t>What happens if recovery verification fails?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We conducted systematic experiments unfreezing layers and applying color jitter, retaining the baseline to preserve uncorrupted reproducibility.</a:t>
            </a:r>
          </a:p>
          <a:p/>
          <a:p>
            <a:r>
              <a:t>KEY POINT:</a:t>
            </a:r>
          </a:p>
          <a:p>
            <a:r>
              <a:t>Evidence-driven model evaluation.</a:t>
            </a:r>
          </a:p>
          <a:p/>
          <a:p>
            <a:r>
              <a:t>POTENTIAL EXAMINER QUESTION:</a:t>
            </a:r>
          </a:p>
          <a:p>
            <a:r>
              <a:t>Why did you keep the baseline instead of a fine-tuned model?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Our model achieved 0.9479 validation ROC-AUC and 100% NITYMED recall. External UTA testing yielded 0.5425 ROC-AUC, reflecting domain distribution differences.</a:t>
            </a:r>
          </a:p>
          <a:p/>
          <a:p>
            <a:r>
              <a:t>KEY POINT:</a:t>
            </a:r>
          </a:p>
          <a:p>
            <a:r>
              <a:t>Transparent distinction between validation and external test metrics.</a:t>
            </a:r>
          </a:p>
          <a:p/>
          <a:p>
            <a:r>
              <a:t>POTENTIAL EXAMINER QUESTION:</a:t>
            </a:r>
          </a:p>
          <a:p>
            <a:r>
              <a:t>Why is external UTA ROC-AUC lower than validation?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Domain audit revealed a 46.7-point luminance shift between datasets, causing frozen CNN features to elevate under bright lighting.</a:t>
            </a:r>
          </a:p>
          <a:p/>
          <a:p>
            <a:r>
              <a:t>KEY POINT:</a:t>
            </a:r>
          </a:p>
          <a:p>
            <a:r>
              <a:t>Illumination and camera setup drive cross-domain variation.</a:t>
            </a:r>
          </a:p>
          <a:p/>
          <a:p>
            <a:r>
              <a:t>POTENTIAL EXAMINER QUESTION:</a:t>
            </a:r>
          </a:p>
          <a:p>
            <a:r>
              <a:t>Did you solve domain shift?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Real-time benchmarking on native CPU achieved 78.65 ms sequence latency and 15.73 FPS, passing all 17 automated system checks.</a:t>
            </a:r>
          </a:p>
          <a:p/>
          <a:p>
            <a:r>
              <a:t>KEY POINT:</a:t>
            </a:r>
          </a:p>
          <a:p>
            <a:r>
              <a:t>Edge-compatible CPU execution speed.</a:t>
            </a:r>
          </a:p>
          <a:p/>
          <a:p>
            <a:r>
              <a:t>POTENTIAL EXAMINER QUESTION:</a:t>
            </a:r>
          </a:p>
          <a:p>
            <a:r>
              <a:t>Can 78.65 ms sequence latency support real-time execution?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Our live demonstration presents a dual-panel dashboard featuring real-time probabilities, state banners, interactive recovery checks, and manual alert logging.</a:t>
            </a:r>
          </a:p>
          <a:p/>
          <a:p>
            <a:r>
              <a:t>KEY POINT:</a:t>
            </a:r>
          </a:p>
          <a:p>
            <a:r>
              <a:t>Functional software prototype demonstration.</a:t>
            </a:r>
          </a:p>
          <a:p/>
          <a:p>
            <a:r>
              <a:t>POTENTIAL EXAMINER QUESTION:</a:t>
            </a:r>
          </a:p>
          <a:p>
            <a:r>
              <a:t>Is this connected to vehicle control hardware?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We explicitly document 10 operational limitations and outline future work including domain-adversarial networks and multi-modal landmark fusion.</a:t>
            </a:r>
          </a:p>
          <a:p/>
          <a:p>
            <a:r>
              <a:t>KEY POINT:</a:t>
            </a:r>
          </a:p>
          <a:p>
            <a:r>
              <a:t>Honest research disclosure and future roadmap.</a:t>
            </a:r>
          </a:p>
          <a:p/>
          <a:p>
            <a:r>
              <a:t>POTENTIAL EXAMINER QUESTION:</a:t>
            </a:r>
          </a:p>
          <a:p>
            <a:r>
              <a:t>How would you reduce false positive rates in future 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(20-40s):</a:t>
            </a:r>
          </a:p>
          <a:p>
            <a:r>
              <a:t>To conclude, detection alone is insufficient; our prototype closes the loop by intervening and verifying recovery before resuming monitoring. Thank you.</a:t>
            </a:r>
          </a:p>
          <a:p/>
          <a:p>
            <a:r>
              <a:t>KEY POINT:</a:t>
            </a:r>
          </a:p>
          <a:p>
            <a:r>
              <a:t>End-to-end closed-loop driver safety monitoring system.</a:t>
            </a:r>
          </a:p>
          <a:p/>
          <a:p>
            <a:r>
              <a:t>POTENTIAL EXAMINER QUESTION:</a:t>
            </a:r>
          </a:p>
          <a:p>
            <a:r>
              <a:t>What is the single most important takeaway from your project?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NEURAL NETWORKS &amp; DEEP LEARNING (NNDL)</a:t>
            </a:r>
          </a:p>
          <a:p>
            <a:pPr algn="ctr">
              <a:spcBef>
                <a:spcPts val="1500"/>
              </a:spcBef>
              <a:defRPr sz="2600" b="1">
                <a:solidFill>
                  <a:srgbClr val="F8FAFC"/>
                </a:solidFill>
              </a:defRPr>
            </a:pPr>
            <a:r>
              <a:t>AI-Based Driver Drowsiness &amp; Safety Monitoring System</a:t>
            </a:r>
            <a:br/>
            <a:r>
              <a:t>for Zero-Harm Industrial Transportation</a:t>
            </a:r>
          </a:p>
          <a:p>
            <a:pPr algn="ctr">
              <a:spcBef>
                <a:spcPts val="1500"/>
              </a:spcBef>
              <a:defRPr sz="1500">
                <a:solidFill>
                  <a:srgbClr val="22C55E"/>
                </a:solidFill>
              </a:defRPr>
            </a:pPr>
            <a:r>
              <a:t>MobileNetV2 + LSTM Based Temporal Drowsiness Detection with Closed-Loop Intervention</a:t>
            </a:r>
          </a:p>
          <a:p>
            <a:pPr algn="ctr">
              <a:spcBef>
                <a:spcPts val="3000"/>
              </a:spcBef>
              <a:defRPr sz="1200">
                <a:solidFill>
                  <a:srgbClr val="94A3B8"/>
                </a:solidFill>
              </a:defRPr>
            </a:pPr>
            <a:r>
              <a:t>Team: Final Project Demonstration Group  |  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Moving Beyond Open-Loop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TRADITIONAL OPEN-LOOP MONITORS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Focus solely on classification (Detect -&gt; Alert)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Emit simple acoustic chimes drivers easily ignore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No assessment of fatigue severity or persistence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Zero verification of whether driver regained alertness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Open-loop gap: leaves post-alert actions undefined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OUR CLOSED-LOOP SAFETY WORKFLOW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Integrated pipeline: Detect -&gt; Intervene -&gt; Verify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Evaluates temporal persistence over 16-frame buffer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Active visual warning guidance instructing pull-over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Mandatory Recovery Verification ('look at camera &amp; eyes open')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Escalates to 3-minute simulated rest protocol if verification fails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Objectives &amp; Research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1. Real-Time Video Monitoring: </a:t>
            </a:r>
            <a:r>
              <a:rPr b="0">
                <a:solidFill>
                  <a:srgbClr val="F8FAFC"/>
                </a:solidFill>
              </a:rPr>
              <a:t>Capture live webcam/video frames at edge-compatible inference speeds.</a:t>
            </a:r>
          </a:p>
          <a:p>
            <a:pPr>
              <a:spcBef>
                <a:spcPts val="1000"/>
              </a:spcBef>
              <a:defRPr sz="1200" b="1">
                <a:solidFill>
                  <a:srgbClr val="38BDF8"/>
                </a:solidFill>
              </a:defRPr>
            </a:pPr>
            <a:r>
              <a:t>2. Temporal Behavior Modeling: </a:t>
            </a:r>
            <a:r>
              <a:rPr b="0">
                <a:solidFill>
                  <a:srgbClr val="F8FAFC"/>
                </a:solidFill>
              </a:rPr>
              <a:t>Model facial dynamics across 16-frame temporal sequences (530 ms) rather than static isolated frames.</a:t>
            </a:r>
          </a:p>
          <a:p>
            <a:pPr>
              <a:spcBef>
                <a:spcPts val="1000"/>
              </a:spcBef>
              <a:defRPr sz="1200" b="1">
                <a:solidFill>
                  <a:srgbClr val="38BDF8"/>
                </a:solidFill>
              </a:defRPr>
            </a:pPr>
            <a:r>
              <a:t>3. Edge Deep Architecture: </a:t>
            </a:r>
            <a:r>
              <a:rPr b="0">
                <a:solidFill>
                  <a:srgbClr val="F8FAFC"/>
                </a:solidFill>
              </a:rPr>
              <a:t>Combine frozen MobileNetV2 CNN spatial feature extraction with a 64-unit LSTM temporal memory network.</a:t>
            </a:r>
          </a:p>
          <a:p>
            <a:pPr>
              <a:spcBef>
                <a:spcPts val="1000"/>
              </a:spcBef>
              <a:defRPr sz="1200" b="1">
                <a:solidFill>
                  <a:srgbClr val="38BDF8"/>
                </a:solidFill>
              </a:defRPr>
            </a:pPr>
            <a:r>
              <a:t>4. Closed-Loop Intervention: </a:t>
            </a:r>
            <a:r>
              <a:rPr b="0">
                <a:solidFill>
                  <a:srgbClr val="F8FAFC"/>
                </a:solidFill>
              </a:rPr>
              <a:t>Implement a severity-aware state machine issuing active visual and acoustic pull-over guidance.</a:t>
            </a:r>
          </a:p>
          <a:p>
            <a:pPr>
              <a:spcBef>
                <a:spcPts val="1000"/>
              </a:spcBef>
              <a:defRPr sz="1200" b="1">
                <a:solidFill>
                  <a:srgbClr val="38BDF8"/>
                </a:solidFill>
              </a:defRPr>
            </a:pPr>
            <a:r>
              <a:t>5. Recovery Verification: </a:t>
            </a:r>
            <a:r>
              <a:rPr b="0">
                <a:solidFill>
                  <a:srgbClr val="F8FAFC"/>
                </a:solidFill>
              </a:rPr>
              <a:t>Verify driver eye openness and facial stability before resuming normal monitoring.</a:t>
            </a:r>
          </a:p>
          <a:p>
            <a:pPr>
              <a:spcBef>
                <a:spcPts val="1000"/>
              </a:spcBef>
              <a:defRPr sz="1200" b="1">
                <a:solidFill>
                  <a:srgbClr val="38BDF8"/>
                </a:solidFill>
              </a:defRPr>
            </a:pPr>
            <a:r>
              <a:t>6. Event &amp; Metric Logging: </a:t>
            </a:r>
            <a:r>
              <a:rPr b="0">
                <a:solidFill>
                  <a:srgbClr val="F8FAFC"/>
                </a:solidFill>
              </a:rPr>
              <a:t>Log all safety events to demo_events.csv and real-time latency to realtime_metrics.csv.</a:t>
            </a:r>
          </a:p>
          <a:p>
            <a:pPr>
              <a:spcBef>
                <a:spcPts val="1000"/>
              </a:spcBef>
              <a:defRPr sz="1200" b="1">
                <a:solidFill>
                  <a:srgbClr val="38BDF8"/>
                </a:solidFill>
              </a:defRPr>
            </a:pPr>
            <a:r>
              <a:t>7. Cross-Domain Evaluation: </a:t>
            </a:r>
            <a:r>
              <a:rPr b="0">
                <a:solidFill>
                  <a:srgbClr val="F8FAFC"/>
                </a:solidFill>
              </a:rPr>
              <a:t>Rigorously evaluate cross-dataset generalization across multi-source datasets (NITYMED &amp; UTA-RLDD).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Datasets &amp; Sequence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NITYMED DATASET (Recall Benchmark)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Official Metadata: 130 videos across 21 drivers (11M/10F)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Official Behaviors: 107 Yawning, 21 Microsleep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Local Usable Set: 126 videos -&gt; 5,822 sequences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Splits: Train (4,118), Val (860), Test (844)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Label Property: 100% positive drowsiness (Label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UTA-RLDD LOCAL SUBSET (Fold-1)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Local Subset: 36 videos across 12 participants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Classes: Alert (0), Low Vigilant (5), Drowsy (10)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Binary Mapping: Alert=0, Low Vigilant+Drowsy=1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Total Sequences: 20,009 (Train 13,755, Val 2,727, Test 3,527)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Diagnostic Held-Out Participants: P04 and P07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59E0B"/>
                </a:solidFill>
              </a:defRPr>
            </a:pPr>
            <a:r>
              <a:t>Methodological Disclaimer: UTA-RLDD evaluation uses a custom participant-level split of the downloaded Fold-1 subset and is not the official five-fold benchmark protocol.</a:t>
            </a:r>
          </a:p>
        </p:txBody>
      </p:sp>
      <p:pic>
        <p:nvPicPr>
          <p:cNvPr id="8" name="Picture 7" descr="fig3_datas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474720"/>
            <a:ext cx="4754880" cy="19836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 Preprocessing &amp; Sequence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Video Stream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Raw MP4/webcam feed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Stride Sampling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Frame stride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3. Face Detection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Localize face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4. Face Crop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128×128 RGB resolution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4048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5. Temporal Buffer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16 frames per 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840480"/>
            <a:ext cx="33832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6. Normalization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x / 127.5 - 1.0 (A1)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Deep Neural Network Architecture (MobileNetV2 + LSTM)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• TimeDistributed MobileNetV2: </a:t>
            </a:r>
            <a:r>
              <a:rPr b="0">
                <a:solidFill>
                  <a:srgbClr val="F8FAFC"/>
                </a:solidFill>
              </a:rPr>
              <a:t>Pretrained ImageNet CNN, strictly frozen, outputs 1280-d spatial activations per frame.</a:t>
            </a:r>
          </a:p>
          <a:p>
            <a:pPr>
              <a:spcBef>
                <a:spcPts val="1000"/>
              </a:spcBef>
              <a:defRPr sz="1100" b="1">
                <a:solidFill>
                  <a:srgbClr val="22C55E"/>
                </a:solidFill>
              </a:defRPr>
            </a:pPr>
            <a:r>
              <a:t>• Global Average Pooling: </a:t>
            </a:r>
            <a:r>
              <a:rPr b="0">
                <a:solidFill>
                  <a:srgbClr val="F8FAFC"/>
                </a:solidFill>
              </a:rPr>
              <a:t>Reduces 2D feature maps into compact 1D frame embeddings.</a:t>
            </a:r>
          </a:p>
          <a:p>
            <a:pPr>
              <a:spcBef>
                <a:spcPts val="1000"/>
              </a:spcBef>
              <a:defRPr sz="1100" b="1">
                <a:solidFill>
                  <a:srgbClr val="22C55E"/>
                </a:solidFill>
              </a:defRPr>
            </a:pPr>
            <a:r>
              <a:t>• 64-Unit LSTM Layer: </a:t>
            </a:r>
            <a:r>
              <a:rPr b="0">
                <a:solidFill>
                  <a:srgbClr val="F8FAFC"/>
                </a:solidFill>
              </a:rPr>
              <a:t>Models sequential temporal dependencies and facial motion dynamics across 16 frames.</a:t>
            </a:r>
          </a:p>
          <a:p>
            <a:pPr>
              <a:spcBef>
                <a:spcPts val="1000"/>
              </a:spcBef>
              <a:defRPr sz="1100" b="1">
                <a:solidFill>
                  <a:srgbClr val="22C55E"/>
                </a:solidFill>
              </a:defRPr>
            </a:pPr>
            <a:r>
              <a:t>• Dropout Regularization: </a:t>
            </a:r>
            <a:r>
              <a:rPr b="0">
                <a:solidFill>
                  <a:srgbClr val="F8FAFC"/>
                </a:solidFill>
              </a:rPr>
              <a:t>Dropout(0.3) after LSTM and Dropout(0.2) after Dense layer to prevent overfitting.</a:t>
            </a:r>
          </a:p>
          <a:p>
            <a:pPr>
              <a:spcBef>
                <a:spcPts val="1000"/>
              </a:spcBef>
              <a:defRPr sz="1100" b="1">
                <a:solidFill>
                  <a:srgbClr val="22C55E"/>
                </a:solidFill>
              </a:defRPr>
            </a:pPr>
            <a:r>
              <a:t>• Dense Output Layer: </a:t>
            </a:r>
            <a:r>
              <a:rPr b="0">
                <a:solidFill>
                  <a:srgbClr val="F8FAFC"/>
                </a:solidFill>
              </a:rPr>
              <a:t>Dense(32, ReLU) followed by Dense(1, Sigmoid) outputting drowsiness probability p in [0, 1].</a:t>
            </a:r>
          </a:p>
        </p:txBody>
      </p:sp>
      <p:pic>
        <p:nvPicPr>
          <p:cNvPr id="6" name="Picture 5" descr="fig4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486400" cy="24041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pic>
        <p:nvPicPr>
          <p:cNvPr id="5" name="Picture 4" descr="fig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42245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Pipeline Flow Summary: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Camera Input -&gt; Face Detection -&gt; 16-Frame Sequence Buffer -&gt; CNN-LSTM Model -&gt; Raw Probability -&gt; 5-Window Temporal Smoothing -&gt; Closed-Loop State Machine -&gt; Intervention &amp; Recovery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Core Novelty: Closed-Loop Intervention &amp; Recovery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pic>
        <p:nvPicPr>
          <p:cNvPr id="5" name="Picture 4" descr="fig2_closed_loop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5163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WORKFLOW STAGES</a:t>
            </a:r>
          </a:p>
          <a:p>
            <a:pPr>
              <a:spcBef>
                <a:spcPts val="800"/>
              </a:spcBef>
              <a:defRPr sz="1050" b="1">
                <a:solidFill>
                  <a:srgbClr val="38BDF8"/>
                </a:solidFill>
              </a:defRPr>
            </a:pPr>
            <a:r>
              <a:t>• WARNING State: </a:t>
            </a:r>
            <a:r>
              <a:rPr b="0">
                <a:solidFill>
                  <a:srgbClr val="F8FAFC"/>
                </a:solidFill>
              </a:rPr>
              <a:t>Visual/audible pull-over alert issued after 3 consecutive high-probability predictions.</a:t>
            </a:r>
          </a:p>
          <a:p>
            <a:pPr>
              <a:spcBef>
                <a:spcPts val="800"/>
              </a:spcBef>
              <a:defRPr sz="1050" b="1">
                <a:solidFill>
                  <a:srgbClr val="38BDF8"/>
                </a:solidFill>
              </a:defRPr>
            </a:pPr>
            <a:r>
              <a:t>• RECOVERY CHECK: </a:t>
            </a:r>
            <a:r>
              <a:rPr b="0">
                <a:solidFill>
                  <a:srgbClr val="F8FAFC"/>
                </a:solidFill>
              </a:rPr>
              <a:t>Prompts: 'Look at camera &amp; keep eyes open'. Evaluates face presence and eye stability over 3s.</a:t>
            </a:r>
          </a:p>
          <a:p>
            <a:pPr>
              <a:spcBef>
                <a:spcPts val="800"/>
              </a:spcBef>
              <a:defRPr sz="1050" b="1">
                <a:solidFill>
                  <a:srgbClr val="38BDF8"/>
                </a:solidFill>
              </a:defRPr>
            </a:pPr>
            <a:r>
              <a:t>• RECOVERY VERIFIED: </a:t>
            </a:r>
            <a:r>
              <a:rPr b="0">
                <a:solidFill>
                  <a:srgbClr val="F8FAFC"/>
                </a:solidFill>
              </a:rPr>
              <a:t>Returns system to NORMAL monitoring upon verified wakefulness.</a:t>
            </a:r>
          </a:p>
          <a:p>
            <a:pPr>
              <a:spcBef>
                <a:spcPts val="800"/>
              </a:spcBef>
              <a:defRPr sz="1050" b="1">
                <a:solidFill>
                  <a:srgbClr val="38BDF8"/>
                </a:solidFill>
              </a:defRPr>
            </a:pPr>
            <a:r>
              <a:t>• SAFETY REST PROTOCOL: </a:t>
            </a:r>
            <a:r>
              <a:rPr b="0">
                <a:solidFill>
                  <a:srgbClr val="F8FAFC"/>
                </a:solidFill>
              </a:rPr>
              <a:t>Simulated 3-minute rest countdown (03:00) if verification fails.</a:t>
            </a:r>
          </a:p>
          <a:p>
            <a:pPr>
              <a:spcBef>
                <a:spcPts val="800"/>
              </a:spcBef>
              <a:defRPr sz="1050" b="1">
                <a:solidFill>
                  <a:srgbClr val="38BDF8"/>
                </a:solidFill>
              </a:defRPr>
            </a:pPr>
            <a:r>
              <a:t>• Manual Emergency Alert: </a:t>
            </a:r>
            <a:r>
              <a:rPr b="0">
                <a:solidFill>
                  <a:srgbClr val="F8FAFC"/>
                </a:solidFill>
              </a:rPr>
              <a:t>Operator override button / 'E' key press logged to demo_events.csv.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Experimental Progression Across Development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pic>
        <p:nvPicPr>
          <p:cNvPr id="5" name="Picture 4" descr="fig7_experime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8027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EXPERIMENTAL HIGHLIGHTS</a:t>
            </a:r>
          </a:p>
          <a:p>
            <a:pPr>
              <a:spcBef>
                <a:spcPts val="600"/>
              </a:spcBef>
              <a:defRPr sz="1000" b="1">
                <a:solidFill>
                  <a:srgbClr val="22C55E"/>
                </a:solidFill>
              </a:defRPr>
            </a:pPr>
            <a:r>
              <a:t>• Stage 08 Baseline: </a:t>
            </a:r>
            <a:r>
              <a:rPr b="0">
                <a:solidFill>
                  <a:srgbClr val="F8FAFC"/>
                </a:solidFill>
              </a:rPr>
              <a:t>MobileNetV2 + LSTM frozen model (Val AUC: 0.9479).</a:t>
            </a:r>
          </a:p>
          <a:p>
            <a:pPr>
              <a:spcBef>
                <a:spcPts val="600"/>
              </a:spcBef>
              <a:defRPr sz="1000" b="1">
                <a:solidFill>
                  <a:srgbClr val="22C55E"/>
                </a:solidFill>
              </a:defRPr>
            </a:pPr>
            <a:r>
              <a:t>• Stage 08E Fine-Tuning: </a:t>
            </a:r>
            <a:r>
              <a:rPr b="0">
                <a:solidFill>
                  <a:srgbClr val="F8FAFC"/>
                </a:solidFill>
              </a:rPr>
              <a:t>Unfroze top 25 layers; observed severe P07 participant inversion (AUC 0.0339).</a:t>
            </a:r>
          </a:p>
          <a:p>
            <a:pPr>
              <a:spcBef>
                <a:spcPts val="600"/>
              </a:spcBef>
              <a:defRPr sz="1000" b="1">
                <a:solidFill>
                  <a:srgbClr val="22C55E"/>
                </a:solidFill>
              </a:defRPr>
            </a:pPr>
            <a:r>
              <a:t>• Stage 10A Domain Audit: </a:t>
            </a:r>
            <a:r>
              <a:rPr b="0">
                <a:solidFill>
                  <a:srgbClr val="F8FAFC"/>
                </a:solidFill>
              </a:rPr>
              <a:t>Identified 46.7-point luminance gap between NITYMED &amp; UTA-RLDD.</a:t>
            </a:r>
          </a:p>
          <a:p>
            <a:pPr>
              <a:spcBef>
                <a:spcPts val="600"/>
              </a:spcBef>
              <a:defRPr sz="1000" b="1">
                <a:solidFill>
                  <a:srgbClr val="22C55E"/>
                </a:solidFill>
              </a:defRPr>
            </a:pPr>
            <a:r>
              <a:t>• Stage 10B Domain Training: </a:t>
            </a:r>
            <a:r>
              <a:rPr b="0">
                <a:solidFill>
                  <a:srgbClr val="F8FAFC"/>
                </a:solidFill>
              </a:rPr>
              <a:t>Color jitter reduced UTA FPR to 60.30% but did not resolve CNN feature shift.</a:t>
            </a:r>
          </a:p>
          <a:p>
            <a:pPr>
              <a:spcBef>
                <a:spcPts val="600"/>
              </a:spcBef>
              <a:defRPr sz="1000" b="1">
                <a:solidFill>
                  <a:srgbClr val="22C55E"/>
                </a:solidFill>
              </a:defRPr>
            </a:pPr>
            <a:r>
              <a:t>• Stage 10C Domain Adaptation: </a:t>
            </a:r>
            <a:r>
              <a:rPr b="0">
                <a:solidFill>
                  <a:srgbClr val="F8FAFC"/>
                </a:solidFill>
              </a:rPr>
              <a:t>Sequence norm (A3) reduced FPR to 25.40% but degraded Val AUC to 0.6850.</a:t>
            </a:r>
          </a:p>
          <a:p>
            <a:pPr>
              <a:spcBef>
                <a:spcPts val="600"/>
              </a:spcBef>
              <a:defRPr sz="1000" b="1">
                <a:solidFill>
                  <a:srgbClr val="22C55E"/>
                </a:solidFill>
              </a:defRPr>
            </a:pPr>
            <a:r>
              <a:t>• Stage 11 Model Selection: </a:t>
            </a:r>
            <a:r>
              <a:rPr b="0">
                <a:solidFill>
                  <a:srgbClr val="F8FAFC"/>
                </a:solidFill>
              </a:rPr>
              <a:t>Decision: KEEP BASELINE to preserve uncorrupted reproducibility.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Empirical Baseline Results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0.947850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Validation ROC-AUC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0.542460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UTA Test ROC-AUC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0.765152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UTA Test F1-Score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3832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69.02%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UTA Test FPR (t=0.5)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749039"/>
            <a:ext cx="33832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0.638542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Combined Test ROC-AUC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749039"/>
            <a:ext cx="33832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100.00%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NITYMED Test Recall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Domain Shift Investigation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pic>
        <p:nvPicPr>
          <p:cNvPr id="5" name="Picture 4" descr="fig6_domain_shift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3957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KEY DOMAIN SHIFT FINDINGS</a:t>
            </a:r>
          </a:p>
          <a:p>
            <a:pPr>
              <a:spcBef>
                <a:spcPts val="800"/>
              </a:spcBef>
              <a:defRPr sz="1050" b="1">
                <a:solidFill>
                  <a:srgbClr val="F59E0B"/>
                </a:solidFill>
              </a:defRPr>
            </a:pPr>
            <a:r>
              <a:t>• Illumination Gap: </a:t>
            </a:r>
            <a:r>
              <a:rPr b="0">
                <a:solidFill>
                  <a:srgbClr val="F8FAFC"/>
                </a:solidFill>
              </a:rPr>
              <a:t>NITYMED mean luminance is 69.60, whereas UTA-RLDD Alert mean luminance is 116.34 (46.7 point shift).</a:t>
            </a:r>
          </a:p>
          <a:p>
            <a:pPr>
              <a:spcBef>
                <a:spcPts val="800"/>
              </a:spcBef>
              <a:defRPr sz="1050" b="1">
                <a:solidFill>
                  <a:srgbClr val="F59E0B"/>
                </a:solidFill>
              </a:defRPr>
            </a:pPr>
            <a:r>
              <a:t>• CNN Brightness Sensitivity: </a:t>
            </a:r>
            <a:r>
              <a:rPr b="0">
                <a:solidFill>
                  <a:srgbClr val="F8FAFC"/>
                </a:solidFill>
              </a:rPr>
              <a:t>Frozen ImageNet CNN features extract overall background brightness, causing elevated probabilities on bright sequences.</a:t>
            </a:r>
          </a:p>
          <a:p>
            <a:pPr>
              <a:spcBef>
                <a:spcPts val="800"/>
              </a:spcBef>
              <a:defRPr sz="1050" b="1">
                <a:solidFill>
                  <a:srgbClr val="F59E0B"/>
                </a:solidFill>
              </a:defRPr>
            </a:pPr>
            <a:r>
              <a:t>• Participant Sensitivity: </a:t>
            </a:r>
            <a:r>
              <a:rPr b="0">
                <a:solidFill>
                  <a:srgbClr val="F8FAFC"/>
                </a:solidFill>
              </a:rPr>
              <a:t>Participants P04 and P07 exhibited contrasting behavior, with P07 suffering complete feature inversion in fine-tuned models.</a:t>
            </a:r>
          </a:p>
          <a:p>
            <a:pPr>
              <a:spcBef>
                <a:spcPts val="800"/>
              </a:spcBef>
              <a:defRPr sz="1050" b="1">
                <a:solidFill>
                  <a:srgbClr val="F59E0B"/>
                </a:solidFill>
              </a:defRPr>
            </a:pPr>
            <a:r>
              <a:t>• Scientific Conclusion: </a:t>
            </a:r>
            <a:r>
              <a:rPr b="0">
                <a:solidFill>
                  <a:srgbClr val="F8FAFC"/>
                </a:solidFill>
              </a:rPr>
              <a:t>The experiments indicate substantial cross-domain generalization challenges that require multi-modal feature fusion.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Real-Time Inference Performance &amp; Final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78.65 ms</a:t>
            </a:r>
          </a:p>
          <a:p>
            <a:pPr algn="ctr"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Mean Sequence Latency (P95: 108.86 ms | Throughput: 15.73 FPS)</a:t>
            </a:r>
          </a:p>
        </p:txBody>
      </p:sp>
      <p:pic>
        <p:nvPicPr>
          <p:cNvPr id="6" name="Picture 5" descr="fig8_realtim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418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AUTOMATED SYSTEM CHECKS (17/17 PASSED)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✓ Webcam Stream: PASS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✓ Face Detection: PASS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✓ Temporal Inference: PASS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✓ State Machine: PASS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✓ Event Logging: PASS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✓ Performance Metrics: 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Final Real-Time Demonstration &amp; UI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DEMONSTRATION FEATURES &amp; DASHBOARD PANELS</a:t>
            </a:r>
          </a:p>
          <a:p>
            <a:pPr>
              <a:spcBef>
                <a:spcPts val="1000"/>
              </a:spcBef>
              <a:defRPr sz="1100" b="1">
                <a:solidFill>
                  <a:srgbClr val="22C55E"/>
                </a:solidFill>
              </a:defRPr>
            </a:pPr>
            <a:r>
              <a:t>• Dual-Panel Interface: </a:t>
            </a:r>
            <a:r>
              <a:rPr b="0">
                <a:solidFill>
                  <a:srgbClr val="F8FAFC"/>
                </a:solidFill>
              </a:rPr>
              <a:t>Left Panel: Live video feed with face bounding box. Right Panel: Real-time status dashboard.</a:t>
            </a:r>
          </a:p>
          <a:p>
            <a:pPr>
              <a:spcBef>
                <a:spcPts val="1000"/>
              </a:spcBef>
              <a:defRPr sz="1100" b="1">
                <a:solidFill>
                  <a:srgbClr val="22C55E"/>
                </a:solidFill>
              </a:defRPr>
            </a:pPr>
            <a:r>
              <a:t>• Dashboard Fields: </a:t>
            </a:r>
            <a:r>
              <a:rPr b="0">
                <a:solidFill>
                  <a:srgbClr val="F8FAFC"/>
                </a:solidFill>
              </a:rPr>
              <a:t>Displays System State, Smoothed Probability %, Face Detection Status, Temporal Buffer (XX/16), Latency, FPS.</a:t>
            </a:r>
          </a:p>
          <a:p>
            <a:pPr>
              <a:spcBef>
                <a:spcPts val="1000"/>
              </a:spcBef>
              <a:defRPr sz="1100" b="1">
                <a:solidFill>
                  <a:srgbClr val="22C55E"/>
                </a:solidFill>
              </a:defRPr>
            </a:pPr>
            <a:r>
              <a:t>• State Progression Flow: </a:t>
            </a:r>
            <a:r>
              <a:rPr b="0">
                <a:solidFill>
                  <a:srgbClr val="F8FAFC"/>
                </a:solidFill>
              </a:rPr>
              <a:t>NORMAL -&gt; DROWSINESS DETECTED -&gt; WARNING -&gt; RECOVERY CHECK -&gt; RECOVERED / REST REQUIRED</a:t>
            </a:r>
          </a:p>
          <a:p>
            <a:pPr>
              <a:spcBef>
                <a:spcPts val="1000"/>
              </a:spcBef>
              <a:defRPr sz="1100" b="1">
                <a:solidFill>
                  <a:srgbClr val="22C55E"/>
                </a:solidFill>
              </a:defRPr>
            </a:pPr>
            <a:r>
              <a:t>• Presentation Demo Mode: </a:t>
            </a:r>
            <a:r>
              <a:rPr b="0">
                <a:solidFill>
                  <a:srgbClr val="F8FAFC"/>
                </a:solidFill>
              </a:rPr>
              <a:t>Press 'M' key to toggle Demo Simulation Mode for clean presentation testing without fake random model probability hacks.</a:t>
            </a:r>
          </a:p>
          <a:p>
            <a:pPr>
              <a:spcBef>
                <a:spcPts val="1000"/>
              </a:spcBef>
              <a:defRPr sz="1100" b="1">
                <a:solidFill>
                  <a:srgbClr val="22C55E"/>
                </a:solidFill>
              </a:defRPr>
            </a:pPr>
            <a:r>
              <a:t>• Safety Disclaimer Banner: </a:t>
            </a:r>
            <a:r>
              <a:rPr b="0">
                <a:solidFill>
                  <a:srgbClr val="F8FAFC"/>
                </a:solidFill>
              </a:rPr>
              <a:t>Always displays 'Research Prototype — Not a Vehicle Control System' on lower panel.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DRIVER SAFETY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Limitations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Research Prototype — Not a Vehicle Control System | Final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DOCUMENTED LIMITATIONS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Cross-domain shift degrades UTA-RLDD ROC-AUC (0.5425)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High UTA-RLDD false positive rate (69.02% at t=0.5)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Raw webcam probability saturation near 1.0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Participant-specific feature inversion on P07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Software prototype (no vehicle control/CAN bus connection)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No clinical wakefulness or medical diagnosis claimed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FUTURE RESEARCH DIRECTIONS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Multi-source training on larger diverse driving datasets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Subject-independent Leave-One-Group-Out benchmarking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Domain-Adversarial Neural Networks (DANN) feature alignment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Dynamic local adaptive illumination normalization (CLAHE)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Deep probability fusion with Eye Aspect Ratio (EAR) landmarks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Edge hardware deployment (NVIDIA Jetson Nano) with IR camera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DETECTION IS ONLY THE FIRST STEP</a:t>
            </a:r>
          </a:p>
          <a:p>
            <a:pPr algn="ctr">
              <a:spcBef>
                <a:spcPts val="2000"/>
              </a:spcBef>
              <a:defRPr sz="1600" b="1">
                <a:solidFill>
                  <a:srgbClr val="22C55E"/>
                </a:solidFill>
              </a:defRPr>
            </a:pPr>
            <a:r>
              <a:t>MobileNetV2 + LSTM Architecture  +  Real-Time Monitoring</a:t>
            </a:r>
            <a:br/>
            <a:r>
              <a:t>+  Closed-Loop Intervention  +  Recovery Verification</a:t>
            </a:r>
          </a:p>
          <a:p>
            <a:pPr algn="ctr">
              <a:spcBef>
                <a:spcPts val="2500"/>
              </a:spcBef>
              <a:defRPr sz="1300">
                <a:solidFill>
                  <a:srgbClr val="F8FAFC"/>
                </a:solidFill>
              </a:defRPr>
            </a:pPr>
            <a:r>
              <a:t>The research prototype demonstrates an end-to-end safety-oriented workflow while explicitly identifying cross-domain generalization as a key limitation and future research direction.</a:t>
            </a:r>
          </a:p>
          <a:p>
            <a:pPr algn="ctr">
              <a:spcBef>
                <a:spcPts val="3500"/>
              </a:spcBef>
              <a:defRPr sz="2200" b="1">
                <a:solidFill>
                  <a:srgbClr val="F59E0B"/>
                </a:solidFill>
              </a:defRPr>
            </a:pPr>
            <a:r>
              <a:t>THANK YOU!</a:t>
            </a:r>
            <a:b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